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68710" autoAdjust="0"/>
  </p:normalViewPr>
  <p:slideViewPr>
    <p:cSldViewPr snapToGrid="0" snapToObjects="1">
      <p:cViewPr varScale="1">
        <p:scale>
          <a:sx n="122" d="100"/>
          <a:sy n="122" d="100"/>
        </p:scale>
        <p:origin x="114" y="204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307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E5631"/>
                </a:solidFill>
                <a:latin typeface="Domine" pitchFamily="34" charset="0"/>
                <a:ea typeface="Domine" pitchFamily="34" charset="-122"/>
                <a:cs typeface="Domin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E563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E5631"/>
                </a:solidFill>
                <a:latin typeface="Domine" pitchFamily="34" charset="0"/>
                <a:ea typeface="Domine" pitchFamily="34" charset="-122"/>
                <a:cs typeface="Domin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E563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37731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FD8C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PROLIFIC CONSULTING · BRIEFING TO THE COMMITTEE OF REGIONAL GOVERNORS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895475"/>
            <a:ext cx="10203180" cy="2528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928"/>
              </a:lnSpc>
              <a:buNone/>
            </a:pPr>
            <a:r>
              <a:rPr lang="en-US" sz="4400" b="1" i="0" dirty="0">
                <a:solidFill>
                  <a:srgbClr val="F3F7F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In Patagonia, beds and seats, not money, are what limit Chile.</a:t>
            </a:r>
            <a:endParaRPr lang="en-US" sz="4400" dirty="0"/>
          </a:p>
          <a:p>
            <a:pPr marL="0" indent="0" algn="l">
              <a:lnSpc>
                <a:spcPts val="4928"/>
              </a:lnSpc>
              <a:buNone/>
            </a:pPr>
            <a:r>
              <a:rPr lang="en-US" sz="4400" b="1" i="0" dirty="0">
                <a:solidFill>
                  <a:srgbClr val="F2B36B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This Fund should buy capacity there first.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470344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CE9E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2027 Regional Tourism Development Fund (USD 45 M) · High Season 2027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502856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CE9E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Alain Iyondeba · Anagha Arun Bande · Po-Hsun Chuang · Sachi Vijay Agarwal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62382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FD8C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TGM 530 Big Data in the Global Economy · Thunderbird School of Global Management · Final Project Part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563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Followed exactly, both plans deliver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40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Emma lands in Santiago in January 2027. Two models decide where she and 110,000 visitors like her go, and what the USD 45 million Fund buys.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5975" y="2268855"/>
            <a:ext cx="2482850" cy="2457450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6350">
            <a:solidFill>
              <a:srgbClr val="D5E2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71880" y="2524760"/>
            <a:ext cx="20301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E563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121.5 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71880" y="3195320"/>
            <a:ext cx="203017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USD of visitor spending, 2027 to 2029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1880" y="4043680"/>
            <a:ext cx="203017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USD 2.70 for every Fund dollar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08375" y="2268855"/>
            <a:ext cx="2482850" cy="2457450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6350">
            <a:solidFill>
              <a:srgbClr val="D5E2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764280" y="2524760"/>
            <a:ext cx="20301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E563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1,600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764280" y="3195320"/>
            <a:ext cx="2030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direct tourism jobs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64280" y="3545840"/>
            <a:ext cx="203017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exactly the Government's commitment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0775" y="2268855"/>
            <a:ext cx="2482850" cy="2457450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6350">
            <a:solidFill>
              <a:srgbClr val="D5E2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56680" y="2524760"/>
            <a:ext cx="20301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E563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50.2 M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56680" y="3195320"/>
            <a:ext cx="203017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USD net contribution, summer 2027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56680" y="3794760"/>
            <a:ext cx="20301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110,000 program visitors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93175" y="2268855"/>
            <a:ext cx="2482850" cy="2457450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6350">
            <a:solidFill>
              <a:srgbClr val="D5E2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49080" y="2524760"/>
            <a:ext cx="20301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E563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6 of 6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149080" y="3195320"/>
            <a:ext cx="203017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gateways with every seat used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9080" y="3794760"/>
            <a:ext cx="203017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75% of visitors beyond Santiago and Valparaíso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1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Prolific Consulting · Phase 2 briefing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563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Patagonia runs out of beds first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4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Three people, three different summers under the optimal plan (illustrative characters, model numbers)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5975" y="2019936"/>
            <a:ext cx="3380264" cy="3214370"/>
          </a:xfrm>
          <a:prstGeom prst="roundRect">
            <a:avLst>
              <a:gd name="adj" fmla="val 3062"/>
            </a:avLst>
          </a:prstGeom>
          <a:solidFill>
            <a:srgbClr val="FFFFFF"/>
          </a:solidFill>
          <a:ln w="6350">
            <a:solidFill>
              <a:srgbClr val="D5E2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71880" y="239776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5651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56080" y="2275841"/>
            <a:ext cx="23527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Camila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56080" y="2550161"/>
            <a:ext cx="235278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Hostería owner, Puerto Natales (Magallanes)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1880" y="3103880"/>
            <a:ext cx="2954507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B5651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10,600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071880" y="4013200"/>
            <a:ext cx="295450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program visitors, about USD 980 each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1880" y="4638041"/>
            <a:ext cx="1905000" cy="340360"/>
          </a:xfrm>
          <a:prstGeom prst="roundRect">
            <a:avLst>
              <a:gd name="adj" fmla="val 44776"/>
            </a:avLst>
          </a:prstGeom>
          <a:solidFill>
            <a:srgbClr val="B5651D"/>
          </a:solidFill>
          <a:ln/>
        </p:spPr>
        <p:txBody>
          <a:bodyPr wrap="square" lIns="82364" tIns="18864" rIns="31564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 spare beds left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5789" y="2019936"/>
            <a:ext cx="3380343" cy="3214370"/>
          </a:xfrm>
          <a:prstGeom prst="roundRect">
            <a:avLst>
              <a:gd name="adj" fmla="val 3062"/>
            </a:avLst>
          </a:prstGeom>
          <a:solidFill>
            <a:srgbClr val="FFFFFF"/>
          </a:solidFill>
          <a:ln w="6350">
            <a:solidFill>
              <a:srgbClr val="D5E2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61694" y="2291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5651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45894" y="2275841"/>
            <a:ext cx="1356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hotelier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45894" y="2550161"/>
            <a:ext cx="156733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Coyhaique (Aysén)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1694" y="2890520"/>
            <a:ext cx="2954589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B5651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2,000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661694" y="3799841"/>
            <a:ext cx="295458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guests, all routed through Puerto Montt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1694" y="4424680"/>
            <a:ext cx="1905000" cy="340360"/>
          </a:xfrm>
          <a:prstGeom prst="roundRect">
            <a:avLst>
              <a:gd name="adj" fmla="val 44776"/>
            </a:avLst>
          </a:prstGeom>
          <a:solidFill>
            <a:srgbClr val="B5651D"/>
          </a:solidFill>
          <a:ln/>
        </p:spPr>
        <p:txBody>
          <a:bodyPr wrap="square" lIns="82364" tIns="18864" rIns="31564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 spare beds left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95682" y="2019936"/>
            <a:ext cx="3380343" cy="3214370"/>
          </a:xfrm>
          <a:prstGeom prst="roundRect">
            <a:avLst>
              <a:gd name="adj" fmla="val 3062"/>
            </a:avLst>
          </a:prstGeom>
          <a:solidFill>
            <a:srgbClr val="FFFFFF"/>
          </a:solidFill>
          <a:ln w="6350">
            <a:solidFill>
              <a:srgbClr val="D5E2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251587" y="239776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6B6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35787" y="2275841"/>
            <a:ext cx="23528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Rodrigo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35787" y="2550161"/>
            <a:ext cx="235286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Rafting operator, Pucón (Araucanía)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51587" y="3103880"/>
            <a:ext cx="2954589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1E563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1,500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251587" y="4013200"/>
            <a:ext cx="295458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visitors, only the promised minimum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51587" y="4638041"/>
            <a:ext cx="2286000" cy="340360"/>
          </a:xfrm>
          <a:prstGeom prst="roundRect">
            <a:avLst>
              <a:gd name="adj" fmla="val 44776"/>
            </a:avLst>
          </a:prstGeom>
          <a:solidFill>
            <a:srgbClr val="E3EEE6"/>
          </a:solidFill>
          <a:ln/>
        </p:spPr>
        <p:txBody>
          <a:bodyPr wrap="square" lIns="82364" tIns="18864" rIns="21404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563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14,000 beds still empty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41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Prolific Consulting · Phase 2 briefing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563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 bed in Patagonia is worth seven in Santiago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4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Value to Chile of room for one more program visitor in one season, USD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2032000"/>
            <a:ext cx="170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Magallanes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90800" y="2016761"/>
            <a:ext cx="4064000" cy="279400"/>
          </a:xfrm>
          <a:prstGeom prst="roundRect">
            <a:avLst>
              <a:gd name="adj" fmla="val 13636"/>
            </a:avLst>
          </a:prstGeom>
          <a:solidFill>
            <a:srgbClr val="B56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781800" y="20320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65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2400300"/>
            <a:ext cx="170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Aysén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90800" y="2385061"/>
            <a:ext cx="3257550" cy="279400"/>
          </a:xfrm>
          <a:prstGeom prst="roundRect">
            <a:avLst>
              <a:gd name="adj" fmla="val 13636"/>
            </a:avLst>
          </a:prstGeom>
          <a:solidFill>
            <a:srgbClr val="B56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75350" y="24003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65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345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2768600"/>
            <a:ext cx="170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Metropolitana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90800" y="2753361"/>
            <a:ext cx="565150" cy="279400"/>
          </a:xfrm>
          <a:prstGeom prst="roundRect">
            <a:avLst>
              <a:gd name="adj" fmla="val 13636"/>
            </a:avLst>
          </a:prstGeom>
          <a:solidFill>
            <a:srgbClr val="9DB5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82950" y="27686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3136900"/>
            <a:ext cx="170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Maule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90800" y="3121661"/>
            <a:ext cx="565150" cy="279400"/>
          </a:xfrm>
          <a:prstGeom prst="roundRect">
            <a:avLst>
              <a:gd name="adj" fmla="val 13636"/>
            </a:avLst>
          </a:prstGeom>
          <a:solidFill>
            <a:srgbClr val="9DB5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82950" y="31369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3505200"/>
            <a:ext cx="170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Biobío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90800" y="348996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9DB5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048000" y="35052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3873500"/>
            <a:ext cx="170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Atacama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590800" y="3858261"/>
            <a:ext cx="190500" cy="279400"/>
          </a:xfrm>
          <a:prstGeom prst="roundRect">
            <a:avLst>
              <a:gd name="adj" fmla="val 20000"/>
            </a:avLst>
          </a:prstGeom>
          <a:solidFill>
            <a:srgbClr val="9DB5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908300" y="38735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4241800"/>
            <a:ext cx="170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Antofagasta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590800" y="4226561"/>
            <a:ext cx="139700" cy="279400"/>
          </a:xfrm>
          <a:prstGeom prst="roundRect">
            <a:avLst>
              <a:gd name="adj" fmla="val 27273"/>
            </a:avLst>
          </a:prstGeom>
          <a:solidFill>
            <a:srgbClr val="9DB5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857500" y="4241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800" y="4610100"/>
            <a:ext cx="170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Coquimbo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590800" y="4594861"/>
            <a:ext cx="95250" cy="279400"/>
          </a:xfrm>
          <a:prstGeom prst="roundRect">
            <a:avLst>
              <a:gd name="adj" fmla="val 40000"/>
            </a:avLst>
          </a:prstGeom>
          <a:solidFill>
            <a:srgbClr val="9DB5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813050" y="46101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53375" y="2019936"/>
            <a:ext cx="3422650" cy="2294890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6350">
            <a:solidFill>
              <a:srgbClr val="D5E2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209280" y="2275841"/>
            <a:ext cx="29981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E563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7 regions: USD 0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209280" y="2758441"/>
            <a:ext cx="2998165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Including Los Lagos, with 27,700 spare beds. Its limit is seats, not rooms.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09280" y="3632200"/>
            <a:ext cx="299816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Magallanes' value holds for the next 900 beds; Aysén's for 7,700.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Prolific Consulting · Phase 2 briefing · Model B, accommodation headroom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563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Buy Punta Arenas seats first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3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Value to Chile of one more program seat at each gateway, USD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2044700"/>
            <a:ext cx="1831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Punta Arenas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17800" y="2016761"/>
            <a:ext cx="3810000" cy="304800"/>
          </a:xfrm>
          <a:prstGeom prst="roundRect">
            <a:avLst>
              <a:gd name="adj" fmla="val 12500"/>
            </a:avLst>
          </a:prstGeom>
          <a:solidFill>
            <a:srgbClr val="B56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654800" y="2044700"/>
            <a:ext cx="55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65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484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2463800"/>
            <a:ext cx="1831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Puerto Montt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17800" y="2435861"/>
            <a:ext cx="3219450" cy="304800"/>
          </a:xfrm>
          <a:prstGeom prst="roundRect">
            <a:avLst>
              <a:gd name="adj" fmla="val 12500"/>
            </a:avLst>
          </a:prstGeom>
          <a:solidFill>
            <a:srgbClr val="9DB5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64250" y="2463800"/>
            <a:ext cx="55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409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2882900"/>
            <a:ext cx="1831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Northern airports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17800" y="2854961"/>
            <a:ext cx="3098800" cy="304800"/>
          </a:xfrm>
          <a:prstGeom prst="roundRect">
            <a:avLst>
              <a:gd name="adj" fmla="val 12500"/>
            </a:avLst>
          </a:prstGeom>
          <a:solidFill>
            <a:srgbClr val="9DB5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0" y="2882900"/>
            <a:ext cx="55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394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3302000"/>
            <a:ext cx="1831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Santiago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17800" y="3274061"/>
            <a:ext cx="3022600" cy="304800"/>
          </a:xfrm>
          <a:prstGeom prst="roundRect">
            <a:avLst>
              <a:gd name="adj" fmla="val 12500"/>
            </a:avLst>
          </a:prstGeom>
          <a:solidFill>
            <a:srgbClr val="9DB5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867400" y="3302000"/>
            <a:ext cx="55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384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3721100"/>
            <a:ext cx="1831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Los Libertadores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17800" y="3693161"/>
            <a:ext cx="3022600" cy="304800"/>
          </a:xfrm>
          <a:prstGeom prst="roundRect">
            <a:avLst>
              <a:gd name="adj" fmla="val 12500"/>
            </a:avLst>
          </a:prstGeom>
          <a:solidFill>
            <a:srgbClr val="9DB5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867400" y="3721100"/>
            <a:ext cx="55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384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4140200"/>
            <a:ext cx="1831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Cruise terminals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17800" y="4112261"/>
            <a:ext cx="3022600" cy="304800"/>
          </a:xfrm>
          <a:prstGeom prst="roundRect">
            <a:avLst>
              <a:gd name="adj" fmla="val 12500"/>
            </a:avLst>
          </a:prstGeom>
          <a:solidFill>
            <a:srgbClr val="9DB5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867400" y="4140200"/>
            <a:ext cx="55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384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521575" y="2019936"/>
            <a:ext cx="3854450" cy="1319530"/>
          </a:xfrm>
          <a:prstGeom prst="roundRect">
            <a:avLst>
              <a:gd name="adj" fmla="val 7459"/>
            </a:avLst>
          </a:prstGeom>
          <a:solidFill>
            <a:srgbClr val="FFFFFF"/>
          </a:solidFill>
          <a:ln w="6350">
            <a:solidFill>
              <a:srgbClr val="D5E2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52080" y="2250439"/>
            <a:ext cx="349524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B5651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Ask for about 2,600 seats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752080" y="2682239"/>
            <a:ext cx="349524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Beyond that, Magallanes beds are full and a seat is worth almost a quarter less (USD 374).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18400" y="3520439"/>
            <a:ext cx="3860800" cy="1818640"/>
          </a:xfrm>
          <a:prstGeom prst="roundRect">
            <a:avLst>
              <a:gd name="adj" fmla="val 5587"/>
            </a:avLst>
          </a:prstGeom>
          <a:solidFill>
            <a:srgbClr val="1E56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747000" y="3749039"/>
            <a:ext cx="35057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B36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Ash drill: Puerto Montt at half capacity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47000" y="4038600"/>
            <a:ext cx="35057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3F7F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−USD 2.45 M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747000" y="4470400"/>
            <a:ext cx="350570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CE9E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Los Lagos loses 4,500 visitors; Aysén keeps its flights. Prepare a Santiago to Balmaceda backup.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Prolific Consulting · Phase 2 briefing · Model B, gateway seats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563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The Fund backs Patagonia, but buys no beds there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51611"/>
            <a:ext cx="1765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Region, north to south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54300" y="1451611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Fund 2027, USD million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40500" y="1344932"/>
            <a:ext cx="10033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Summer visitors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1718311"/>
            <a:ext cx="1765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Arica y Parinacota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4300" y="1736089"/>
            <a:ext cx="698500" cy="177800"/>
          </a:xfrm>
          <a:prstGeom prst="roundRect">
            <a:avLst>
              <a:gd name="adj" fmla="val 14286"/>
            </a:avLst>
          </a:prstGeom>
          <a:solidFill>
            <a:srgbClr val="7FA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765800" y="1718311"/>
            <a:ext cx="622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1.20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13500" y="1718311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4.9 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1985011"/>
            <a:ext cx="1765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Tarapacá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4300" y="2002789"/>
            <a:ext cx="698500" cy="177800"/>
          </a:xfrm>
          <a:prstGeom prst="roundRect">
            <a:avLst>
              <a:gd name="adj" fmla="val 14286"/>
            </a:avLst>
          </a:prstGeom>
          <a:solidFill>
            <a:srgbClr val="7FA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765800" y="1985011"/>
            <a:ext cx="622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1.20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13500" y="1985011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0.9 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2251711"/>
            <a:ext cx="1765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Antofagasta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4300" y="2269489"/>
            <a:ext cx="2628900" cy="177800"/>
          </a:xfrm>
          <a:prstGeom prst="roundRect">
            <a:avLst>
              <a:gd name="adj" fmla="val 14286"/>
            </a:avLst>
          </a:prstGeom>
          <a:solidFill>
            <a:srgbClr val="7FA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765800" y="2251711"/>
            <a:ext cx="622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4.50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13500" y="2251711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6.2 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2518411"/>
            <a:ext cx="1765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Atacama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54300" y="2536189"/>
            <a:ext cx="1752600" cy="177800"/>
          </a:xfrm>
          <a:prstGeom prst="roundRect">
            <a:avLst>
              <a:gd name="adj" fmla="val 14286"/>
            </a:avLst>
          </a:prstGeom>
          <a:solidFill>
            <a:srgbClr val="7FA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765800" y="2518411"/>
            <a:ext cx="622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3.00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13500" y="2518411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15.5 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2785111"/>
            <a:ext cx="1765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Coquimbo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54300" y="2802889"/>
            <a:ext cx="2336800" cy="177800"/>
          </a:xfrm>
          <a:prstGeom prst="roundRect">
            <a:avLst>
              <a:gd name="adj" fmla="val 14286"/>
            </a:avLst>
          </a:prstGeom>
          <a:solidFill>
            <a:srgbClr val="7FA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765800" y="2785111"/>
            <a:ext cx="622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4.00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13500" y="2785111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9.2 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2800" y="3051811"/>
            <a:ext cx="1765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Valparaíso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54300" y="3069589"/>
            <a:ext cx="2413000" cy="177800"/>
          </a:xfrm>
          <a:prstGeom prst="roundRect">
            <a:avLst>
              <a:gd name="adj" fmla="val 14286"/>
            </a:avLst>
          </a:prstGeom>
          <a:solidFill>
            <a:srgbClr val="7FA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765800" y="3051811"/>
            <a:ext cx="622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4.13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13500" y="3051811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20.5 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2800" y="3318511"/>
            <a:ext cx="1765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Metropolitana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654300" y="3336289"/>
            <a:ext cx="1047750" cy="177800"/>
          </a:xfrm>
          <a:prstGeom prst="roundRect">
            <a:avLst>
              <a:gd name="adj" fmla="val 14286"/>
            </a:avLst>
          </a:prstGeom>
          <a:solidFill>
            <a:srgbClr val="7FA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765800" y="3318511"/>
            <a:ext cx="622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1.79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13500" y="3318511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7.0 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2800" y="3585211"/>
            <a:ext cx="1765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O'Higgins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654300" y="3602989"/>
            <a:ext cx="698500" cy="177800"/>
          </a:xfrm>
          <a:prstGeom prst="roundRect">
            <a:avLst>
              <a:gd name="adj" fmla="val 14286"/>
            </a:avLst>
          </a:prstGeom>
          <a:solidFill>
            <a:srgbClr val="7FA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765800" y="3585211"/>
            <a:ext cx="622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1.20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13500" y="3585211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1.0 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2800" y="3851911"/>
            <a:ext cx="1765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Maule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654300" y="3869689"/>
            <a:ext cx="2044700" cy="177800"/>
          </a:xfrm>
          <a:prstGeom prst="roundRect">
            <a:avLst>
              <a:gd name="adj" fmla="val 14286"/>
            </a:avLst>
          </a:prstGeom>
          <a:solidFill>
            <a:srgbClr val="7FA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765800" y="3851911"/>
            <a:ext cx="622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3.50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13500" y="3851911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6.3 k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12800" y="4118611"/>
            <a:ext cx="1765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Biobío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654300" y="4136389"/>
            <a:ext cx="698500" cy="177800"/>
          </a:xfrm>
          <a:prstGeom prst="roundRect">
            <a:avLst>
              <a:gd name="adj" fmla="val 14286"/>
            </a:avLst>
          </a:prstGeom>
          <a:solidFill>
            <a:srgbClr val="7FA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765800" y="4118611"/>
            <a:ext cx="622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1.20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13500" y="4118611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13.5 k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12800" y="4385311"/>
            <a:ext cx="1765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Araucanía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654300" y="4403089"/>
            <a:ext cx="2336800" cy="177800"/>
          </a:xfrm>
          <a:prstGeom prst="roundRect">
            <a:avLst>
              <a:gd name="adj" fmla="val 14286"/>
            </a:avLst>
          </a:prstGeom>
          <a:solidFill>
            <a:srgbClr val="7FA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765800" y="4385311"/>
            <a:ext cx="622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4.00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413500" y="4385311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1.5 k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12800" y="4652011"/>
            <a:ext cx="1765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Los Ríos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654300" y="4669789"/>
            <a:ext cx="1625600" cy="177800"/>
          </a:xfrm>
          <a:prstGeom prst="roundRect">
            <a:avLst>
              <a:gd name="adj" fmla="val 14286"/>
            </a:avLst>
          </a:prstGeom>
          <a:solidFill>
            <a:srgbClr val="7FA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765800" y="4652011"/>
            <a:ext cx="622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2.78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413500" y="4652011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1.1 k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12800" y="4918711"/>
            <a:ext cx="1765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Los Lagos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654300" y="4936489"/>
            <a:ext cx="2921000" cy="177800"/>
          </a:xfrm>
          <a:prstGeom prst="roundRect">
            <a:avLst>
              <a:gd name="adj" fmla="val 14286"/>
            </a:avLst>
          </a:prstGeom>
          <a:solidFill>
            <a:srgbClr val="7FA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765800" y="4918711"/>
            <a:ext cx="622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5.00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413500" y="4918711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9.8 k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12800" y="5185411"/>
            <a:ext cx="1765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Aysén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2654300" y="5203189"/>
            <a:ext cx="1752600" cy="177800"/>
          </a:xfrm>
          <a:prstGeom prst="roundRect">
            <a:avLst>
              <a:gd name="adj" fmla="val 14286"/>
            </a:avLst>
          </a:prstGeom>
          <a:solidFill>
            <a:srgbClr val="B56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765800" y="5185411"/>
            <a:ext cx="622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65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3.00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413500" y="5185411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65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2.0 k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812800" y="5452111"/>
            <a:ext cx="1765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Magallanes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654300" y="5469889"/>
            <a:ext cx="2628900" cy="177800"/>
          </a:xfrm>
          <a:prstGeom prst="roundRect">
            <a:avLst>
              <a:gd name="adj" fmla="val 14286"/>
            </a:avLst>
          </a:prstGeom>
          <a:solidFill>
            <a:srgbClr val="B56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5765800" y="5452111"/>
            <a:ext cx="622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65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4.50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413500" y="5452111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65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10.6 k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978775" y="1440814"/>
            <a:ext cx="3397250" cy="1830070"/>
          </a:xfrm>
          <a:prstGeom prst="roundRect">
            <a:avLst>
              <a:gd name="adj" fmla="val 5378"/>
            </a:avLst>
          </a:prstGeom>
          <a:solidFill>
            <a:srgbClr val="FFFFFF"/>
          </a:solidFill>
          <a:ln w="6350">
            <a:solidFill>
              <a:srgbClr val="D5E2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8209280" y="1671321"/>
            <a:ext cx="302432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E563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Magallanes, USD 4.5 M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209280" y="2115821"/>
            <a:ext cx="3024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Protected areas 4.2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8209280" y="2453639"/>
            <a:ext cx="3024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Promotion 0.3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8209280" y="2791461"/>
            <a:ext cx="3024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65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Accommodation 0.0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7975600" y="3451861"/>
            <a:ext cx="350570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 regions at their execution ceiling, 4 on the USD 1.2 M floor. Visitors: thousand program visitors, January to March 2027.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Prolific Consulting · Phase 2 briefing · Model A allocation and Model B routing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563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The equity floor is the cheapest promise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3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Visitor spending given up, USD million, each rule solved again on its own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20955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Jobs target 1,600 to 1,800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098800" y="2016761"/>
            <a:ext cx="3810000" cy="406400"/>
          </a:xfrm>
          <a:prstGeom prst="roundRect">
            <a:avLst>
              <a:gd name="adj" fmla="val 9375"/>
            </a:avLst>
          </a:prstGeom>
          <a:solidFill>
            <a:srgbClr val="9DB5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035800" y="2095500"/>
            <a:ext cx="622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5.11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2730500"/>
            <a:ext cx="2223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Digital minimum 3 to 5 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98800" y="2651761"/>
            <a:ext cx="1619250" cy="406400"/>
          </a:xfrm>
          <a:prstGeom prst="roundRect">
            <a:avLst>
              <a:gd name="adj" fmla="val 9375"/>
            </a:avLst>
          </a:prstGeom>
          <a:solidFill>
            <a:srgbClr val="9DB5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45050" y="2730500"/>
            <a:ext cx="622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2.17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3365500"/>
            <a:ext cx="2223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563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Equity floor 1.2 to 2.0 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98800" y="3286761"/>
            <a:ext cx="647700" cy="406400"/>
          </a:xfrm>
          <a:prstGeom prst="roundRect">
            <a:avLst>
              <a:gd name="adj" fmla="val 9375"/>
            </a:avLst>
          </a:prstGeom>
          <a:solidFill>
            <a:srgbClr val="1E56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873500" y="3365500"/>
            <a:ext cx="622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563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0.87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3921761"/>
            <a:ext cx="680212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USD 25,600 per extra job. At a USD 2 M floor, five regions rise to USD 2 M, paid by Valparaíso, Los Ríos and Atacama; in Arica and Tarapacá the extra money goes to training.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26400" y="2016761"/>
            <a:ext cx="3352800" cy="2240280"/>
          </a:xfrm>
          <a:prstGeom prst="roundRect">
            <a:avLst>
              <a:gd name="adj" fmla="val 4535"/>
            </a:avLst>
          </a:prstGeom>
          <a:solidFill>
            <a:srgbClr val="1E56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80400" y="2270761"/>
            <a:ext cx="29301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B36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budget is not symmetric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80400" y="2611121"/>
            <a:ext cx="29301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3F7F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+5 M adds 11.8 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80400" y="3093721"/>
            <a:ext cx="29301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2B36B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−5 M costs 17.4 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80400" y="3576321"/>
            <a:ext cx="293014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CE9E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cut hurts more than a top up helps. Defend the 45 million.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Prolific Consulting · Phase 2 briefing · Model A scenarios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563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Move USD 1 M in Magallanes into beds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3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Cost in the Fund model against value in the summer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5975" y="2139314"/>
            <a:ext cx="4646930" cy="1995170"/>
          </a:xfrm>
          <a:prstGeom prst="roundRect">
            <a:avLst>
              <a:gd name="adj" fmla="val 4933"/>
            </a:avLst>
          </a:prstGeom>
          <a:solidFill>
            <a:srgbClr val="FFFFFF"/>
          </a:solidFill>
          <a:ln w="6350">
            <a:solidFill>
              <a:srgbClr val="D5E2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71880" y="2395221"/>
            <a:ext cx="4259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 give 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1880" y="2745739"/>
            <a:ext cx="4259174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1B2A22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USD 146,000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71880" y="3629661"/>
            <a:ext cx="4259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 modeled visitor spending, 2027 to 2029</a:t>
            </a:r>
            <a:endParaRPr lang="en-US" sz="14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20080" y="2933700"/>
            <a:ext cx="762000" cy="406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736080" y="2016761"/>
            <a:ext cx="4643120" cy="2240280"/>
          </a:xfrm>
          <a:prstGeom prst="roundRect">
            <a:avLst>
              <a:gd name="adj" fmla="val 4535"/>
            </a:avLst>
          </a:prstGeom>
          <a:solidFill>
            <a:srgbClr val="B56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990080" y="2270761"/>
            <a:ext cx="4259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BE7D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 get back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90080" y="2621282"/>
            <a:ext cx="4259174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USD 1.29 M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6990080" y="3505200"/>
            <a:ext cx="425917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about 1,000 more beds a season × USD 430 each, summers 2028 to 2030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2800" y="4511042"/>
            <a:ext cx="1137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About 9 to 1.</a:t>
            </a: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With a Magallanes project office, the move costs only USD 90,000. Solve again before going beyond 900 beds.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Prolific Consulting · Phase 2 briefing · Mandate C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563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How we know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4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Two optimization models, solved in LINGO and checked twice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5975" y="2019939"/>
            <a:ext cx="2152650" cy="3092450"/>
          </a:xfrm>
          <a:prstGeom prst="roundRect">
            <a:avLst>
              <a:gd name="adj" fmla="val 4572"/>
            </a:avLst>
          </a:prstGeom>
          <a:solidFill>
            <a:srgbClr val="FFFFFF"/>
          </a:solidFill>
          <a:ln w="6350">
            <a:solidFill>
              <a:srgbClr val="D5E2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71880" y="2275842"/>
            <a:ext cx="169164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Fund (Model A)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1880" y="2849879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E563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75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71880" y="3495042"/>
            <a:ext cx="169164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decisions, USD M by region and program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1880" y="3997964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E563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71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71880" y="4643121"/>
            <a:ext cx="1691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rules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78175" y="2019939"/>
            <a:ext cx="2152650" cy="3092450"/>
          </a:xfrm>
          <a:prstGeom prst="roundRect">
            <a:avLst>
              <a:gd name="adj" fmla="val 4572"/>
            </a:avLst>
          </a:prstGeom>
          <a:solidFill>
            <a:srgbClr val="FFFFFF"/>
          </a:solidFill>
          <a:ln w="6350">
            <a:solidFill>
              <a:srgbClr val="D5E2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34080" y="2275842"/>
            <a:ext cx="169164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B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summer (Model B)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34080" y="2849879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E563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90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34080" y="3495042"/>
            <a:ext cx="169164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decisions, visitors by gateway and region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34080" y="3997964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E563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37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434080" y="4643121"/>
            <a:ext cx="1691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rules</a:t>
            </a:r>
            <a:endParaRPr lang="en-US" sz="1200" dirty="0"/>
          </a:p>
        </p:txBody>
      </p:sp>
      <p:pic>
        <p:nvPicPr>
          <p:cNvPr id="16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89600" y="2016764"/>
            <a:ext cx="304800" cy="3048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121400" y="2016764"/>
            <a:ext cx="5101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Global optimum in LINGO 22.0 for both models</a:t>
            </a:r>
            <a:endParaRPr lang="en-US" sz="1400" dirty="0"/>
          </a:p>
        </p:txBody>
      </p:sp>
      <p:pic>
        <p:nvPicPr>
          <p:cNvPr id="18" name="Image 1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89600" y="2524764"/>
            <a:ext cx="304800" cy="3048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121400" y="2524764"/>
            <a:ext cx="510159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 independent second solver matched every objective and dual price</a:t>
            </a:r>
            <a:endParaRPr lang="en-US" sz="1400" dirty="0"/>
          </a:p>
        </p:txBody>
      </p:sp>
      <p:pic>
        <p:nvPicPr>
          <p:cNvPr id="20" name="Image 2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89600" y="3225800"/>
            <a:ext cx="304800" cy="3048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1400" y="3225800"/>
            <a:ext cx="510159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scenario solved again: a dual price is true only inside its range</a:t>
            </a:r>
            <a:endParaRPr lang="en-US" sz="1400" dirty="0"/>
          </a:p>
        </p:txBody>
      </p:sp>
      <p:pic>
        <p:nvPicPr>
          <p:cNvPr id="22" name="Image 3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89600" y="3926842"/>
            <a:ext cx="304800" cy="3048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21400" y="3926842"/>
            <a:ext cx="510159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Multipliers are estimates: read the plan as a ranking, not a forecast. Not yet modeled: park crowding, Mapuche and Aymara voices, hotel build times.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Prolific Consulting · Phase 2 briefing · full reports in Appendices C and D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5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F7F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What we ask the Vice Minister to approve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42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2B36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563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97000" y="1592579"/>
            <a:ext cx="10203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B36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Fund</a:t>
            </a:r>
            <a:r>
              <a:rPr lang="en-US" sz="1400" dirty="0">
                <a:solidFill>
                  <a:srgbClr val="F3F7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USD 45 M plan, with USD 1 M in Magallanes moved to beds and a lean project office there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098042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2B36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563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97000" y="2176779"/>
            <a:ext cx="10203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B36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summer</a:t>
            </a:r>
            <a:r>
              <a:rPr lang="en-US" sz="1400" dirty="0">
                <a:solidFill>
                  <a:srgbClr val="F3F7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About 2,600 extra Punta Arenas seats first; a Santiago to Balmaceda backup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2682242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2B36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563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97000" y="2760979"/>
            <a:ext cx="10203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B36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rules</a:t>
            </a:r>
            <a:r>
              <a:rPr lang="en-US" sz="1400" dirty="0">
                <a:solidFill>
                  <a:srgbClr val="F3F7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USD 2.0 M equity floor for training and infrastructure; 80% decentralization with Chiloé safeguards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3266442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2B36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563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97000" y="3345179"/>
            <a:ext cx="10203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B36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Phase 3</a:t>
            </a:r>
            <a:r>
              <a:rPr lang="en-US" sz="1400" dirty="0">
                <a:solidFill>
                  <a:srgbClr val="F3F7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One linked model in which every dollar of infrastructure becomes beds in the summer plan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5130800"/>
            <a:ext cx="10464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DCE9E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Next January, when Emma lands in Santiago: a seat to Punta Arenas and a bed waiting at Camila's.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FD8C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Prolific Consulting · Alain Iyondeba · Anagha Arun Bande · Po-Hsun Chuang · Sachi Vijay Agarwal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lific Consulting · Phase 2 Briefing to the Regional Governors">
  <a:themeElements>
    <a:clrScheme name="Prolific Consulting · Phase 2 Briefing to the Regional Governors">
      <a:dk1>
        <a:srgbClr val="1E5631"/>
      </a:dk1>
      <a:lt1>
        <a:srgbClr val="F5F8F6"/>
      </a:lt1>
      <a:dk2>
        <a:srgbClr val="547F62"/>
      </a:dk2>
      <a:lt2>
        <a:srgbClr val="E0E8E2"/>
      </a:lt2>
      <a:accent1>
        <a:srgbClr val="B5651D"/>
      </a:accent1>
      <a:accent2>
        <a:srgbClr val="F2B36B"/>
      </a:accent2>
      <a:accent3>
        <a:srgbClr val="FBE7D3"/>
      </a:accent3>
      <a:accent4>
        <a:srgbClr val="1B2A22"/>
      </a:accent4>
      <a:accent5>
        <a:srgbClr val="5B6B62"/>
      </a:accent5>
      <a:accent6>
        <a:srgbClr val="6B7A71"/>
      </a:accent6>
      <a:hlink>
        <a:srgbClr val="0563C1"/>
      </a:hlink>
      <a:folHlink>
        <a:srgbClr val="954F72"/>
      </a:folHlink>
    </a:clrScheme>
    <a:fontScheme name="Prolific Consulting · Phase 2 Briefing to the Regional Governors">
      <a:majorFont>
        <a:latin typeface="Domin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ublic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1064</Words>
  <Application>Microsoft Office PowerPoint</Application>
  <PresentationFormat>Widescreen</PresentationFormat>
  <Paragraphs>209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Domine</vt:lpstr>
      <vt:lpstr>Public Sans</vt:lpstr>
      <vt:lpstr>Prolific Consulting · Phase 2 Briefing to the Regional Governors</vt:lpstr>
      <vt:lpstr>In Patagonia, beds and seats, not money, are what limit Chile. This Fund should buy capacity there first.</vt:lpstr>
      <vt:lpstr>Followed exactly, both plans deliver</vt:lpstr>
      <vt:lpstr>Patagonia runs out of beds first</vt:lpstr>
      <vt:lpstr>A bed in Patagonia is worth seven in Santiago</vt:lpstr>
      <vt:lpstr>Buy Punta Arenas seats first</vt:lpstr>
      <vt:lpstr>The Fund backs Patagonia, but buys no beds there</vt:lpstr>
      <vt:lpstr>The equity floor is the cheapest promise</vt:lpstr>
      <vt:lpstr>Move USD 1 M in Magallanes into beds</vt:lpstr>
      <vt:lpstr>How we know</vt:lpstr>
      <vt:lpstr>What we ask the Vice Minister to approve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Prolific Consulting · Phase 2 Briefing to the Regional Governors</dc:title>
  <dc:subject/>
  <dc:creator/>
  <cp:lastModifiedBy>Anagha Arun Bande</cp:lastModifiedBy>
  <cp:revision>2</cp:revision>
  <dcterms:created xsi:type="dcterms:W3CDTF">2026-10-06T20:56:31Z</dcterms:created>
  <dcterms:modified xsi:type="dcterms:W3CDTF">2026-10-07T04:56:58Z</dcterms:modified>
</cp:coreProperties>
</file>